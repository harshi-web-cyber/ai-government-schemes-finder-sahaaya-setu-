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Lst>
  <p:sldSz cy="5143500" cx="9144000"/>
  <p:notesSz cx="5143500" cy="9144000"/>
  <p:embeddedFontLst>
    <p:embeddedFont>
      <p:font typeface="Source Sans 3"/>
      <p:regular r:id="rId10"/>
      <p:bold r:id="rId11"/>
      <p:italic r:id="rId12"/>
      <p:boldItalic r:id="rId13"/>
    </p:embeddedFont>
    <p:embeddedFont>
      <p:font typeface="Lora"/>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SourceSans3-bold.fntdata"/><Relationship Id="rId10" Type="http://schemas.openxmlformats.org/officeDocument/2006/relationships/font" Target="fonts/SourceSans3-regular.fntdata"/><Relationship Id="rId13" Type="http://schemas.openxmlformats.org/officeDocument/2006/relationships/font" Target="fonts/SourceSans3-boldItalic.fntdata"/><Relationship Id="rId12" Type="http://schemas.openxmlformats.org/officeDocument/2006/relationships/font" Target="fonts/SourceSans3-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Lora-bold.fntdata"/><Relationship Id="rId14" Type="http://schemas.openxmlformats.org/officeDocument/2006/relationships/font" Target="fonts/Lora-regular.fntdata"/><Relationship Id="rId17" Type="http://schemas.openxmlformats.org/officeDocument/2006/relationships/font" Target="fonts/Lora-boldItalic.fntdata"/><Relationship Id="rId16" Type="http://schemas.openxmlformats.org/officeDocument/2006/relationships/font" Target="fonts/Lora-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9144000" cy="51435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9144000" cy="51435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9144000" cy="51435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9144000" cy="51435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9144000" cy="51435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9144000" cy="51435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9144000" cy="51435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9144000" cy="5143500"/>
          </a:xfrm>
          <a:prstGeom prst="rect">
            <a:avLst/>
          </a:prstGeom>
          <a:solidFill>
            <a:srgbClr val="F2E4C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9144000" cy="5143500"/>
          </a:xfrm>
          <a:prstGeom prst="rect">
            <a:avLst/>
          </a:prstGeom>
          <a:solidFill>
            <a:srgbClr val="FEF5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pic>
        <p:nvPicPr>
          <p:cNvPr descr="preencoded.png" id="36" name="Google Shape;36;p8"/>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37" name="Google Shape;37;p8"/>
          <p:cNvSpPr/>
          <p:nvPr/>
        </p:nvSpPr>
        <p:spPr>
          <a:xfrm>
            <a:off x="3952577" y="1328217"/>
            <a:ext cx="886941" cy="245938"/>
          </a:xfrm>
          <a:prstGeom prst="roundRect">
            <a:avLst>
              <a:gd fmla="val 6388" name="adj"/>
            </a:avLst>
          </a:prstGeom>
          <a:solidFill>
            <a:srgbClr val="E2E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8"/>
          <p:cNvSpPr/>
          <p:nvPr/>
        </p:nvSpPr>
        <p:spPr>
          <a:xfrm>
            <a:off x="4031084" y="1367433"/>
            <a:ext cx="1187128" cy="16750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A3630"/>
              </a:buClr>
              <a:buSzPts val="800"/>
              <a:buFont typeface="Source Sans 3"/>
              <a:buNone/>
            </a:pPr>
            <a:r>
              <a:rPr b="0" i="0" lang="en-US" sz="800" u="none" cap="none" strike="noStrike">
                <a:solidFill>
                  <a:srgbClr val="3A3630"/>
                </a:solidFill>
                <a:latin typeface="Source Sans 3"/>
                <a:ea typeface="Source Sans 3"/>
                <a:cs typeface="Source Sans 3"/>
                <a:sym typeface="Source Sans 3"/>
              </a:rPr>
              <a:t>THE CHALLENGE</a:t>
            </a:r>
            <a:endParaRPr b="0" i="0" sz="800" u="none" cap="none" strike="noStrike"/>
          </a:p>
        </p:txBody>
      </p:sp>
      <p:sp>
        <p:nvSpPr>
          <p:cNvPr id="39" name="Google Shape;39;p8"/>
          <p:cNvSpPr/>
          <p:nvPr/>
        </p:nvSpPr>
        <p:spPr>
          <a:xfrm>
            <a:off x="3952577" y="1626468"/>
            <a:ext cx="4667845" cy="115483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8512F"/>
              </a:buClr>
              <a:buSzPts val="2400"/>
              <a:buFont typeface="Lora"/>
              <a:buNone/>
            </a:pPr>
            <a:r>
              <a:rPr b="0" i="0" lang="en-US" sz="2400" u="none" cap="none" strike="noStrike">
                <a:solidFill>
                  <a:srgbClr val="38512F"/>
                </a:solidFill>
                <a:latin typeface="Lora"/>
                <a:ea typeface="Lora"/>
                <a:cs typeface="Lora"/>
                <a:sym typeface="Lora"/>
              </a:rPr>
              <a:t>1,200+ Government Schemes — Yet Millions Still Fall Through the Cracks</a:t>
            </a:r>
            <a:endParaRPr b="0" i="0" sz="2400" u="none" cap="none" strike="noStrike"/>
          </a:p>
        </p:txBody>
      </p:sp>
      <p:sp>
        <p:nvSpPr>
          <p:cNvPr id="40" name="Google Shape;40;p8"/>
          <p:cNvSpPr/>
          <p:nvPr/>
        </p:nvSpPr>
        <p:spPr>
          <a:xfrm>
            <a:off x="3952577" y="2977604"/>
            <a:ext cx="4667845" cy="837605"/>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A3630"/>
              </a:buClr>
              <a:buSzPts val="1000"/>
              <a:buFont typeface="Source Sans 3"/>
              <a:buNone/>
            </a:pPr>
            <a:r>
              <a:rPr b="0" i="0" lang="en-US" sz="1000" u="none" cap="none" strike="noStrike">
                <a:solidFill>
                  <a:srgbClr val="3A3630"/>
                </a:solidFill>
                <a:latin typeface="Source Sans 3"/>
                <a:ea typeface="Source Sans 3"/>
                <a:cs typeface="Source Sans 3"/>
                <a:sym typeface="Source Sans 3"/>
              </a:rPr>
              <a:t>India's welfare architecture is vast, but access remains deeply unequal. A fragmented digital landscape, language barriers, and unreliable intermediaries prevent the most vulnerable citizens from claiming their rights. The result is a crisis of exclusion — not of intent, but of design.</a:t>
            </a:r>
            <a:endParaRPr b="0" i="0" sz="10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9"/>
          <p:cNvSpPr/>
          <p:nvPr/>
        </p:nvSpPr>
        <p:spPr>
          <a:xfrm>
            <a:off x="523577" y="711771"/>
            <a:ext cx="799207" cy="255463"/>
          </a:xfrm>
          <a:prstGeom prst="roundRect">
            <a:avLst>
              <a:gd fmla="val 6149" name="adj"/>
            </a:avLst>
          </a:prstGeom>
          <a:noFill/>
          <a:ln cap="flat" cmpd="sng" w="9525">
            <a:solidFill>
              <a:srgbClr val="3851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a:off x="606847" y="755749"/>
            <a:ext cx="1089868" cy="16750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8512F"/>
              </a:buClr>
              <a:buSzPts val="800"/>
              <a:buFont typeface="Source Sans 3"/>
              <a:buNone/>
            </a:pPr>
            <a:r>
              <a:rPr b="0" i="0" lang="en-US" sz="800" u="none" cap="none" strike="noStrike">
                <a:solidFill>
                  <a:srgbClr val="38512F"/>
                </a:solidFill>
                <a:latin typeface="Source Sans 3"/>
                <a:ea typeface="Source Sans 3"/>
                <a:cs typeface="Source Sans 3"/>
                <a:sym typeface="Source Sans 3"/>
              </a:rPr>
              <a:t>THE PROBLEM</a:t>
            </a:r>
            <a:endParaRPr b="0" i="0" sz="800" u="none" cap="none" strike="noStrike"/>
          </a:p>
        </p:txBody>
      </p:sp>
      <p:sp>
        <p:nvSpPr>
          <p:cNvPr id="48" name="Google Shape;48;p9"/>
          <p:cNvSpPr/>
          <p:nvPr/>
        </p:nvSpPr>
        <p:spPr>
          <a:xfrm>
            <a:off x="523577" y="1019547"/>
            <a:ext cx="8096845" cy="76988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8512F"/>
              </a:buClr>
              <a:buSzPts val="2400"/>
              <a:buFont typeface="Lora"/>
              <a:buNone/>
            </a:pPr>
            <a:r>
              <a:rPr b="0" i="0" lang="en-US" sz="2400" u="none" cap="none" strike="noStrike">
                <a:solidFill>
                  <a:srgbClr val="38512F"/>
                </a:solidFill>
                <a:latin typeface="Lora"/>
                <a:ea typeface="Lora"/>
                <a:cs typeface="Lora"/>
                <a:sym typeface="Lora"/>
              </a:rPr>
              <a:t>Three Barriers Standing Between Citizens and Their Rights</a:t>
            </a:r>
            <a:endParaRPr b="0" i="0" sz="2400" u="none" cap="none" strike="noStrike"/>
          </a:p>
        </p:txBody>
      </p:sp>
      <p:pic>
        <p:nvPicPr>
          <p:cNvPr descr="preencoded.png" id="49" name="Google Shape;49;p9"/>
          <p:cNvPicPr preferRelativeResize="0"/>
          <p:nvPr/>
        </p:nvPicPr>
        <p:blipFill rotWithShape="1">
          <a:blip r:embed="rId3">
            <a:alphaModFix/>
          </a:blip>
          <a:srcRect b="0" l="0" r="0" t="0"/>
          <a:stretch/>
        </p:blipFill>
        <p:spPr>
          <a:xfrm>
            <a:off x="509290" y="1985739"/>
            <a:ext cx="2625923" cy="2445990"/>
          </a:xfrm>
          <a:prstGeom prst="rect">
            <a:avLst/>
          </a:prstGeom>
          <a:noFill/>
          <a:ln>
            <a:noFill/>
          </a:ln>
        </p:spPr>
      </p:pic>
      <p:sp>
        <p:nvSpPr>
          <p:cNvPr id="50" name="Google Shape;50;p9"/>
          <p:cNvSpPr/>
          <p:nvPr/>
        </p:nvSpPr>
        <p:spPr>
          <a:xfrm>
            <a:off x="711622" y="2130921"/>
            <a:ext cx="1878509"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630"/>
              </a:buClr>
              <a:buSzPts val="1200"/>
              <a:buFont typeface="Lora"/>
              <a:buNone/>
            </a:pPr>
            <a:r>
              <a:rPr b="0" i="0" lang="en-US" sz="1200" u="none" cap="none" strike="noStrike">
                <a:solidFill>
                  <a:srgbClr val="3A3630"/>
                </a:solidFill>
                <a:latin typeface="Lora"/>
                <a:ea typeface="Lora"/>
                <a:cs typeface="Lora"/>
                <a:sym typeface="Lora"/>
              </a:rPr>
              <a:t>The Burden of Complexity</a:t>
            </a:r>
            <a:endParaRPr b="0" i="0" sz="1200" u="none" cap="none" strike="noStrike"/>
          </a:p>
        </p:txBody>
      </p:sp>
      <p:sp>
        <p:nvSpPr>
          <p:cNvPr id="51" name="Google Shape;51;p9"/>
          <p:cNvSpPr/>
          <p:nvPr/>
        </p:nvSpPr>
        <p:spPr>
          <a:xfrm>
            <a:off x="711622" y="2401937"/>
            <a:ext cx="2278410" cy="1884611"/>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A3630"/>
              </a:buClr>
              <a:buSzPts val="1000"/>
              <a:buFont typeface="Source Sans 3"/>
              <a:buNone/>
            </a:pPr>
            <a:r>
              <a:rPr b="0" i="0" lang="en-US" sz="1000" u="none" cap="none" strike="noStrike">
                <a:solidFill>
                  <a:srgbClr val="3A3630"/>
                </a:solidFill>
                <a:latin typeface="Source Sans 3"/>
                <a:ea typeface="Source Sans 3"/>
                <a:cs typeface="Source Sans 3"/>
                <a:sym typeface="Source Sans 3"/>
              </a:rPr>
              <a:t>Over 1,200 government schemes exist across central, state, and local levels — yet they are scattered across disconnected portals with no unified entry point. Citizens must navigate dozens of websites, each with its own format, requirements, and update cycles, making discovery nearly impossible without expert guidance.</a:t>
            </a:r>
            <a:endParaRPr b="0" i="0" sz="1000" u="none" cap="none" strike="noStrike"/>
          </a:p>
        </p:txBody>
      </p:sp>
      <p:pic>
        <p:nvPicPr>
          <p:cNvPr descr="preencoded.png" id="52" name="Google Shape;52;p9"/>
          <p:cNvPicPr preferRelativeResize="0"/>
          <p:nvPr/>
        </p:nvPicPr>
        <p:blipFill rotWithShape="1">
          <a:blip r:embed="rId3">
            <a:alphaModFix/>
          </a:blip>
          <a:srcRect b="0" l="0" r="0" t="0"/>
          <a:stretch/>
        </p:blipFill>
        <p:spPr>
          <a:xfrm>
            <a:off x="3251820" y="1985739"/>
            <a:ext cx="2625998" cy="2445990"/>
          </a:xfrm>
          <a:prstGeom prst="rect">
            <a:avLst/>
          </a:prstGeom>
          <a:noFill/>
          <a:ln>
            <a:noFill/>
          </a:ln>
        </p:spPr>
      </p:pic>
      <p:sp>
        <p:nvSpPr>
          <p:cNvPr id="53" name="Google Shape;53;p9"/>
          <p:cNvSpPr/>
          <p:nvPr/>
        </p:nvSpPr>
        <p:spPr>
          <a:xfrm>
            <a:off x="3454152" y="2130921"/>
            <a:ext cx="1540073"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630"/>
              </a:buClr>
              <a:buSzPts val="1200"/>
              <a:buFont typeface="Lora"/>
              <a:buNone/>
            </a:pPr>
            <a:r>
              <a:rPr b="0" i="0" lang="en-US" sz="1200" u="none" cap="none" strike="noStrike">
                <a:solidFill>
                  <a:srgbClr val="3A3630"/>
                </a:solidFill>
                <a:latin typeface="Lora"/>
                <a:ea typeface="Lora"/>
                <a:cs typeface="Lora"/>
                <a:sym typeface="Lora"/>
              </a:rPr>
              <a:t>The Digital Divide</a:t>
            </a:r>
            <a:endParaRPr b="0" i="0" sz="1200" u="none" cap="none" strike="noStrike"/>
          </a:p>
        </p:txBody>
      </p:sp>
      <p:sp>
        <p:nvSpPr>
          <p:cNvPr id="54" name="Google Shape;54;p9"/>
          <p:cNvSpPr/>
          <p:nvPr/>
        </p:nvSpPr>
        <p:spPr>
          <a:xfrm>
            <a:off x="3454152" y="2401937"/>
            <a:ext cx="2278484" cy="167520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A3630"/>
              </a:buClr>
              <a:buSzPts val="1000"/>
              <a:buFont typeface="Source Sans 3"/>
              <a:buNone/>
            </a:pPr>
            <a:r>
              <a:rPr b="0" i="0" lang="en-US" sz="1000" u="none" cap="none" strike="noStrike">
                <a:solidFill>
                  <a:srgbClr val="3A3630"/>
                </a:solidFill>
                <a:latin typeface="Source Sans 3"/>
                <a:ea typeface="Source Sans 3"/>
                <a:cs typeface="Source Sans 3"/>
                <a:sym typeface="Source Sans 3"/>
              </a:rPr>
              <a:t>Bureaucratic jargon and English-first interfaces create insurmountable barriers for rural workers, elderly citizens, and first-generation students. When eligibility criteria are written in legal language rather than plain speech, entire communities are effectively locked out of benefits they are entitled to.</a:t>
            </a:r>
            <a:endParaRPr b="0" i="0" sz="1000" u="none" cap="none" strike="noStrike"/>
          </a:p>
        </p:txBody>
      </p:sp>
      <p:pic>
        <p:nvPicPr>
          <p:cNvPr descr="preencoded.png" id="55" name="Google Shape;55;p9"/>
          <p:cNvPicPr preferRelativeResize="0"/>
          <p:nvPr/>
        </p:nvPicPr>
        <p:blipFill rotWithShape="1">
          <a:blip r:embed="rId3">
            <a:alphaModFix/>
          </a:blip>
          <a:srcRect b="0" l="0" r="0" t="0"/>
          <a:stretch/>
        </p:blipFill>
        <p:spPr>
          <a:xfrm>
            <a:off x="5994425" y="1985739"/>
            <a:ext cx="2625998" cy="2445990"/>
          </a:xfrm>
          <a:prstGeom prst="rect">
            <a:avLst/>
          </a:prstGeom>
          <a:noFill/>
          <a:ln>
            <a:noFill/>
          </a:ln>
        </p:spPr>
      </p:pic>
      <p:sp>
        <p:nvSpPr>
          <p:cNvPr id="56" name="Google Shape;56;p9"/>
          <p:cNvSpPr/>
          <p:nvPr/>
        </p:nvSpPr>
        <p:spPr>
          <a:xfrm>
            <a:off x="6196757" y="2130921"/>
            <a:ext cx="1540073"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A3630"/>
              </a:buClr>
              <a:buSzPts val="1200"/>
              <a:buFont typeface="Lora"/>
              <a:buNone/>
            </a:pPr>
            <a:r>
              <a:rPr b="0" i="0" lang="en-US" sz="1200" u="none" cap="none" strike="noStrike">
                <a:solidFill>
                  <a:srgbClr val="3A3630"/>
                </a:solidFill>
                <a:latin typeface="Lora"/>
                <a:ea typeface="Lora"/>
                <a:cs typeface="Lora"/>
                <a:sym typeface="Lora"/>
              </a:rPr>
              <a:t>The Trust Gap</a:t>
            </a:r>
            <a:endParaRPr b="0" i="0" sz="1200" u="none" cap="none" strike="noStrike"/>
          </a:p>
        </p:txBody>
      </p:sp>
      <p:sp>
        <p:nvSpPr>
          <p:cNvPr id="57" name="Google Shape;57;p9"/>
          <p:cNvSpPr/>
          <p:nvPr/>
        </p:nvSpPr>
        <p:spPr>
          <a:xfrm>
            <a:off x="6196757" y="2401937"/>
            <a:ext cx="2278484" cy="1675209"/>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A3630"/>
              </a:buClr>
              <a:buSzPts val="1000"/>
              <a:buFont typeface="Source Sans 3"/>
              <a:buNone/>
            </a:pPr>
            <a:r>
              <a:rPr b="0" i="0" lang="en-US" sz="1000" u="none" cap="none" strike="noStrike">
                <a:solidFill>
                  <a:srgbClr val="3A3630"/>
                </a:solidFill>
                <a:latin typeface="Source Sans 3"/>
                <a:ea typeface="Source Sans 3"/>
                <a:cs typeface="Source Sans 3"/>
                <a:sym typeface="Source Sans 3"/>
              </a:rPr>
              <a:t>In the absence of reliable official guidance, citizens turn to unofficial third-party intermediaries who often charge fees, provide outdated information, or submit incorrect applications. This leads to high rejection rates, financial loss, and deepening distrust in government systems.</a:t>
            </a:r>
            <a:endParaRPr b="0" i="0" sz="100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0"/>
          <p:cNvSpPr/>
          <p:nvPr/>
        </p:nvSpPr>
        <p:spPr>
          <a:xfrm>
            <a:off x="1308050" y="254050"/>
            <a:ext cx="550366" cy="146819"/>
          </a:xfrm>
          <a:prstGeom prst="roundRect">
            <a:avLst>
              <a:gd fmla="val 7189" name="adj"/>
            </a:avLst>
          </a:prstGeom>
          <a:solidFill>
            <a:srgbClr val="E2E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0"/>
          <p:cNvSpPr/>
          <p:nvPr/>
        </p:nvSpPr>
        <p:spPr>
          <a:xfrm>
            <a:off x="1360810" y="280392"/>
            <a:ext cx="902047" cy="94134"/>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3A3630"/>
              </a:buClr>
              <a:buSzPts val="550"/>
              <a:buFont typeface="Source Sans 3"/>
              <a:buNone/>
            </a:pPr>
            <a:r>
              <a:rPr b="0" i="0" lang="en-US" sz="550" u="none" cap="none" strike="noStrike">
                <a:solidFill>
                  <a:srgbClr val="3A3630"/>
                </a:solidFill>
                <a:latin typeface="Source Sans 3"/>
                <a:ea typeface="Source Sans 3"/>
                <a:cs typeface="Source Sans 3"/>
                <a:sym typeface="Source Sans 3"/>
              </a:rPr>
              <a:t>THE SOLUTION</a:t>
            </a:r>
            <a:endParaRPr b="0" i="0" sz="550" u="none" cap="none" strike="noStrike"/>
          </a:p>
        </p:txBody>
      </p:sp>
      <p:sp>
        <p:nvSpPr>
          <p:cNvPr id="65" name="Google Shape;65;p10"/>
          <p:cNvSpPr/>
          <p:nvPr/>
        </p:nvSpPr>
        <p:spPr>
          <a:xfrm>
            <a:off x="1308050" y="424458"/>
            <a:ext cx="5608141" cy="25866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8512F"/>
              </a:buClr>
              <a:buSzPts val="1600"/>
              <a:buFont typeface="Lora"/>
              <a:buNone/>
            </a:pPr>
            <a:r>
              <a:rPr b="0" i="0" lang="en-US" sz="1600" u="none" cap="none" strike="noStrike">
                <a:solidFill>
                  <a:srgbClr val="38512F"/>
                </a:solidFill>
                <a:latin typeface="Lora"/>
                <a:ea typeface="Lora"/>
                <a:cs typeface="Lora"/>
                <a:sym typeface="Lora"/>
              </a:rPr>
              <a:t>Sahaaya Setu: An AI-Driven Pathway for Every Citizen</a:t>
            </a:r>
            <a:endParaRPr b="0" i="0" sz="1600" u="none" cap="none" strike="noStrike"/>
          </a:p>
        </p:txBody>
      </p:sp>
      <p:sp>
        <p:nvSpPr>
          <p:cNvPr id="66" name="Google Shape;66;p10"/>
          <p:cNvSpPr/>
          <p:nvPr/>
        </p:nvSpPr>
        <p:spPr>
          <a:xfrm>
            <a:off x="1308050" y="771748"/>
            <a:ext cx="6527899" cy="235148"/>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3A3630"/>
              </a:buClr>
              <a:buSzPts val="650"/>
              <a:buFont typeface="Source Sans 3"/>
              <a:buNone/>
            </a:pPr>
            <a:r>
              <a:rPr b="0" i="0" lang="en-US" sz="650" u="none" cap="none" strike="noStrike">
                <a:solidFill>
                  <a:srgbClr val="3A3630"/>
                </a:solidFill>
                <a:latin typeface="Source Sans 3"/>
                <a:ea typeface="Source Sans 3"/>
                <a:cs typeface="Source Sans 3"/>
                <a:sym typeface="Source Sans 3"/>
              </a:rPr>
              <a:t>Sahaaya Setu transforms fragmented government data into a clear, personalized, and actionable journey. By collecting just a few key details about a user's profile, the platform's AI engine evaluates eligibility across hundreds of schemes and delivers a ranked, verified shortlist — all within minutes.</a:t>
            </a:r>
            <a:endParaRPr b="0" i="0" sz="650" u="none" cap="none" strike="noStrike"/>
          </a:p>
        </p:txBody>
      </p:sp>
      <p:pic>
        <p:nvPicPr>
          <p:cNvPr descr="preencoded.png" id="67" name="Google Shape;67;p10"/>
          <p:cNvPicPr preferRelativeResize="0"/>
          <p:nvPr/>
        </p:nvPicPr>
        <p:blipFill rotWithShape="1">
          <a:blip r:embed="rId3">
            <a:alphaModFix/>
          </a:blip>
          <a:srcRect b="0" l="0" r="0" t="0"/>
          <a:stretch/>
        </p:blipFill>
        <p:spPr>
          <a:xfrm>
            <a:off x="2755925" y="1073348"/>
            <a:ext cx="3632076" cy="3632002"/>
          </a:xfrm>
          <a:prstGeom prst="rect">
            <a:avLst/>
          </a:prstGeom>
          <a:noFill/>
          <a:ln>
            <a:noFill/>
          </a:ln>
        </p:spPr>
      </p:pic>
      <p:sp>
        <p:nvSpPr>
          <p:cNvPr id="68" name="Google Shape;68;p10"/>
          <p:cNvSpPr/>
          <p:nvPr/>
        </p:nvSpPr>
        <p:spPr>
          <a:xfrm>
            <a:off x="3108704" y="1775673"/>
            <a:ext cx="1170303" cy="17267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1050"/>
              <a:buFont typeface="Lora"/>
              <a:buNone/>
            </a:pPr>
            <a:r>
              <a:rPr b="0" i="0" lang="en-US" sz="1050" u="none" cap="none" strike="noStrike">
                <a:solidFill>
                  <a:srgbClr val="FFFFFF"/>
                </a:solidFill>
                <a:latin typeface="Lora"/>
                <a:ea typeface="Lora"/>
                <a:cs typeface="Lora"/>
                <a:sym typeface="Lora"/>
              </a:rPr>
              <a:t>User Profile</a:t>
            </a:r>
            <a:endParaRPr b="0" i="0" sz="1050" u="none" cap="none" strike="noStrike"/>
          </a:p>
        </p:txBody>
      </p:sp>
      <p:sp>
        <p:nvSpPr>
          <p:cNvPr id="69" name="Google Shape;69;p10"/>
          <p:cNvSpPr/>
          <p:nvPr/>
        </p:nvSpPr>
        <p:spPr>
          <a:xfrm>
            <a:off x="3108704" y="2000575"/>
            <a:ext cx="1170303" cy="245403"/>
          </a:xfrm>
          <a:prstGeom prst="rect">
            <a:avLst/>
          </a:prstGeom>
          <a:noFill/>
          <a:ln>
            <a:noFill/>
          </a:ln>
        </p:spPr>
        <p:txBody>
          <a:bodyPr anchorCtr="0" anchor="t" bIns="0" lIns="0" spcFirstLastPara="1" rIns="0" wrap="square" tIns="0">
            <a:noAutofit/>
          </a:bodyPr>
          <a:lstStyle/>
          <a:p>
            <a:pPr indent="0" lvl="0" marL="0" marR="0" rtl="0" algn="ctr">
              <a:lnSpc>
                <a:spcPct val="87000"/>
              </a:lnSpc>
              <a:spcBef>
                <a:spcPts val="0"/>
              </a:spcBef>
              <a:spcAft>
                <a:spcPts val="0"/>
              </a:spcAft>
              <a:buClr>
                <a:srgbClr val="FFFFFF"/>
              </a:buClr>
              <a:buSzPts val="900"/>
              <a:buFont typeface="Source Sans 3"/>
              <a:buNone/>
            </a:pPr>
            <a:r>
              <a:rPr b="0" i="0" lang="en-US" sz="900" u="none" cap="none" strike="noStrike">
                <a:solidFill>
                  <a:srgbClr val="FFFFFF"/>
                </a:solidFill>
                <a:latin typeface="Source Sans 3"/>
                <a:ea typeface="Source Sans 3"/>
                <a:cs typeface="Source Sans 3"/>
                <a:sym typeface="Source Sans 3"/>
              </a:rPr>
              <a:t>Enter age, income, location, category.</a:t>
            </a:r>
            <a:endParaRPr b="0" i="0" sz="900" u="none" cap="none" strike="noStrike"/>
          </a:p>
        </p:txBody>
      </p:sp>
      <p:sp>
        <p:nvSpPr>
          <p:cNvPr id="70" name="Google Shape;70;p10"/>
          <p:cNvSpPr/>
          <p:nvPr/>
        </p:nvSpPr>
        <p:spPr>
          <a:xfrm>
            <a:off x="4871196" y="1775673"/>
            <a:ext cx="1170304" cy="17267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1050"/>
              <a:buFont typeface="Lora"/>
              <a:buNone/>
            </a:pPr>
            <a:r>
              <a:rPr b="0" i="0" lang="en-US" sz="1050" u="none" cap="none" strike="noStrike">
                <a:solidFill>
                  <a:srgbClr val="FFFFFF"/>
                </a:solidFill>
                <a:latin typeface="Lora"/>
                <a:ea typeface="Lora"/>
                <a:cs typeface="Lora"/>
                <a:sym typeface="Lora"/>
              </a:rPr>
              <a:t>AI Analysis</a:t>
            </a:r>
            <a:endParaRPr b="0" i="0" sz="1050" u="none" cap="none" strike="noStrike"/>
          </a:p>
        </p:txBody>
      </p:sp>
      <p:sp>
        <p:nvSpPr>
          <p:cNvPr id="71" name="Google Shape;71;p10"/>
          <p:cNvSpPr/>
          <p:nvPr/>
        </p:nvSpPr>
        <p:spPr>
          <a:xfrm>
            <a:off x="4871196" y="2000575"/>
            <a:ext cx="1170304" cy="245403"/>
          </a:xfrm>
          <a:prstGeom prst="rect">
            <a:avLst/>
          </a:prstGeom>
          <a:noFill/>
          <a:ln>
            <a:noFill/>
          </a:ln>
        </p:spPr>
        <p:txBody>
          <a:bodyPr anchorCtr="0" anchor="t" bIns="0" lIns="0" spcFirstLastPara="1" rIns="0" wrap="square" tIns="0">
            <a:noAutofit/>
          </a:bodyPr>
          <a:lstStyle/>
          <a:p>
            <a:pPr indent="0" lvl="0" marL="0" marR="0" rtl="0" algn="ctr">
              <a:lnSpc>
                <a:spcPct val="87000"/>
              </a:lnSpc>
              <a:spcBef>
                <a:spcPts val="0"/>
              </a:spcBef>
              <a:spcAft>
                <a:spcPts val="0"/>
              </a:spcAft>
              <a:buClr>
                <a:srgbClr val="FFFFFF"/>
              </a:buClr>
              <a:buSzPts val="900"/>
              <a:buFont typeface="Source Sans 3"/>
              <a:buNone/>
            </a:pPr>
            <a:r>
              <a:rPr b="0" i="0" lang="en-US" sz="900" u="none" cap="none" strike="noStrike">
                <a:solidFill>
                  <a:srgbClr val="FFFFFF"/>
                </a:solidFill>
                <a:latin typeface="Source Sans 3"/>
                <a:ea typeface="Source Sans 3"/>
                <a:cs typeface="Source Sans 3"/>
                <a:sym typeface="Source Sans 3"/>
              </a:rPr>
              <a:t>Evaluate profile against scheme criteria.</a:t>
            </a:r>
            <a:endParaRPr b="0" i="0" sz="900" u="none" cap="none" strike="noStrike"/>
          </a:p>
        </p:txBody>
      </p:sp>
      <p:sp>
        <p:nvSpPr>
          <p:cNvPr id="72" name="Google Shape;72;p10"/>
          <p:cNvSpPr/>
          <p:nvPr/>
        </p:nvSpPr>
        <p:spPr>
          <a:xfrm>
            <a:off x="3108806" y="3538064"/>
            <a:ext cx="1170303" cy="17267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1050"/>
              <a:buFont typeface="Lora"/>
              <a:buNone/>
            </a:pPr>
            <a:r>
              <a:rPr b="0" i="0" lang="en-US" sz="1050" u="none" cap="none" strike="noStrike">
                <a:solidFill>
                  <a:srgbClr val="FFFFFF"/>
                </a:solidFill>
                <a:latin typeface="Lora"/>
                <a:ea typeface="Lora"/>
                <a:cs typeface="Lora"/>
                <a:sym typeface="Lora"/>
              </a:rPr>
              <a:t>Eligibility Score</a:t>
            </a:r>
            <a:endParaRPr b="0" i="0" sz="1050" u="none" cap="none" strike="noStrike"/>
          </a:p>
        </p:txBody>
      </p:sp>
      <p:sp>
        <p:nvSpPr>
          <p:cNvPr id="73" name="Google Shape;73;p10"/>
          <p:cNvSpPr/>
          <p:nvPr/>
        </p:nvSpPr>
        <p:spPr>
          <a:xfrm>
            <a:off x="3108806" y="3762965"/>
            <a:ext cx="1170303" cy="245403"/>
          </a:xfrm>
          <a:prstGeom prst="rect">
            <a:avLst/>
          </a:prstGeom>
          <a:noFill/>
          <a:ln>
            <a:noFill/>
          </a:ln>
        </p:spPr>
        <p:txBody>
          <a:bodyPr anchorCtr="0" anchor="t" bIns="0" lIns="0" spcFirstLastPara="1" rIns="0" wrap="square" tIns="0">
            <a:noAutofit/>
          </a:bodyPr>
          <a:lstStyle/>
          <a:p>
            <a:pPr indent="0" lvl="0" marL="0" marR="0" rtl="0" algn="ctr">
              <a:lnSpc>
                <a:spcPct val="87000"/>
              </a:lnSpc>
              <a:spcBef>
                <a:spcPts val="0"/>
              </a:spcBef>
              <a:spcAft>
                <a:spcPts val="0"/>
              </a:spcAft>
              <a:buClr>
                <a:srgbClr val="FFFFFF"/>
              </a:buClr>
              <a:buSzPts val="900"/>
              <a:buFont typeface="Source Sans 3"/>
              <a:buNone/>
            </a:pPr>
            <a:r>
              <a:rPr b="0" i="0" lang="en-US" sz="900" u="none" cap="none" strike="noStrike">
                <a:solidFill>
                  <a:srgbClr val="FFFFFF"/>
                </a:solidFill>
                <a:latin typeface="Source Sans 3"/>
                <a:ea typeface="Source Sans 3"/>
                <a:cs typeface="Source Sans 3"/>
                <a:sym typeface="Source Sans 3"/>
              </a:rPr>
              <a:t>Assign a match confidence per scheme.</a:t>
            </a:r>
            <a:endParaRPr b="0" i="0" sz="900" u="none" cap="none" strike="noStrike"/>
          </a:p>
        </p:txBody>
      </p:sp>
      <p:sp>
        <p:nvSpPr>
          <p:cNvPr id="74" name="Google Shape;74;p10"/>
          <p:cNvSpPr/>
          <p:nvPr/>
        </p:nvSpPr>
        <p:spPr>
          <a:xfrm>
            <a:off x="4871196" y="3451775"/>
            <a:ext cx="1170304" cy="345359"/>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1050"/>
              <a:buFont typeface="Lora"/>
              <a:buNone/>
            </a:pPr>
            <a:r>
              <a:rPr b="0" i="0" lang="en-US" sz="1050" u="none" cap="none" strike="noStrike">
                <a:solidFill>
                  <a:srgbClr val="FFFFFF"/>
                </a:solidFill>
                <a:latin typeface="Lora"/>
                <a:ea typeface="Lora"/>
                <a:cs typeface="Lora"/>
                <a:sym typeface="Lora"/>
              </a:rPr>
              <a:t>Schemes Matched</a:t>
            </a:r>
            <a:endParaRPr b="0" i="0" sz="1050" u="none" cap="none" strike="noStrike"/>
          </a:p>
        </p:txBody>
      </p:sp>
      <p:sp>
        <p:nvSpPr>
          <p:cNvPr id="75" name="Google Shape;75;p10"/>
          <p:cNvSpPr/>
          <p:nvPr/>
        </p:nvSpPr>
        <p:spPr>
          <a:xfrm>
            <a:off x="4871196" y="3849356"/>
            <a:ext cx="1170304" cy="245403"/>
          </a:xfrm>
          <a:prstGeom prst="rect">
            <a:avLst/>
          </a:prstGeom>
          <a:noFill/>
          <a:ln>
            <a:noFill/>
          </a:ln>
        </p:spPr>
        <p:txBody>
          <a:bodyPr anchorCtr="0" anchor="t" bIns="0" lIns="0" spcFirstLastPara="1" rIns="0" wrap="square" tIns="0">
            <a:noAutofit/>
          </a:bodyPr>
          <a:lstStyle/>
          <a:p>
            <a:pPr indent="0" lvl="0" marL="0" marR="0" rtl="0" algn="ctr">
              <a:lnSpc>
                <a:spcPct val="87000"/>
              </a:lnSpc>
              <a:spcBef>
                <a:spcPts val="0"/>
              </a:spcBef>
              <a:spcAft>
                <a:spcPts val="0"/>
              </a:spcAft>
              <a:buClr>
                <a:srgbClr val="FFFFFF"/>
              </a:buClr>
              <a:buSzPts val="900"/>
              <a:buFont typeface="Source Sans 3"/>
              <a:buNone/>
            </a:pPr>
            <a:r>
              <a:rPr b="0" i="0" lang="en-US" sz="900" u="none" cap="none" strike="noStrike">
                <a:solidFill>
                  <a:srgbClr val="FFFFFF"/>
                </a:solidFill>
                <a:latin typeface="Source Sans 3"/>
                <a:ea typeface="Source Sans 3"/>
                <a:cs typeface="Source Sans 3"/>
                <a:sym typeface="Source Sans 3"/>
              </a:rPr>
              <a:t>Personalized list with application links.</a:t>
            </a:r>
            <a:endParaRPr b="0" i="0" sz="900" u="none" cap="none" strike="noStrike"/>
          </a:p>
        </p:txBody>
      </p:sp>
      <p:sp>
        <p:nvSpPr>
          <p:cNvPr id="76" name="Google Shape;76;p10"/>
          <p:cNvSpPr/>
          <p:nvPr/>
        </p:nvSpPr>
        <p:spPr>
          <a:xfrm>
            <a:off x="1308050" y="4771802"/>
            <a:ext cx="6985099" cy="117574"/>
          </a:xfrm>
          <a:prstGeom prst="rect">
            <a:avLst/>
          </a:prstGeom>
          <a:noFill/>
          <a:ln>
            <a:noFill/>
          </a:ln>
        </p:spPr>
        <p:txBody>
          <a:bodyPr anchorCtr="0" anchor="t" bIns="0" lIns="0" spcFirstLastPara="1" rIns="0" wrap="square" tIns="0">
            <a:noAutofit/>
          </a:bodyPr>
          <a:lstStyle/>
          <a:p>
            <a:pPr indent="0" lvl="0" marL="0" marR="0" rtl="0" algn="l">
              <a:lnSpc>
                <a:spcPct val="111000"/>
              </a:lnSpc>
              <a:spcBef>
                <a:spcPts val="0"/>
              </a:spcBef>
              <a:spcAft>
                <a:spcPts val="0"/>
              </a:spcAft>
              <a:buClr>
                <a:srgbClr val="3A3630"/>
              </a:buClr>
              <a:buSzPts val="650"/>
              <a:buFont typeface="Source Sans 3"/>
              <a:buNone/>
            </a:pPr>
            <a:r>
              <a:rPr b="0" i="0" lang="en-US" sz="650" u="none" cap="none" strike="noStrike">
                <a:solidFill>
                  <a:srgbClr val="3A3630"/>
                </a:solidFill>
                <a:latin typeface="Source Sans 3"/>
                <a:ea typeface="Source Sans 3"/>
                <a:cs typeface="Source Sans 3"/>
                <a:sym typeface="Source Sans 3"/>
              </a:rPr>
              <a:t>This end-to-end process replaces days of manual searching with a structured, intelligent workflow — ensuring no eligible citizen is left without a clear path to their entitlements.</a:t>
            </a:r>
            <a:endParaRPr b="0" i="0" sz="6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1"/>
          <p:cNvSpPr/>
          <p:nvPr/>
        </p:nvSpPr>
        <p:spPr>
          <a:xfrm>
            <a:off x="523577" y="742429"/>
            <a:ext cx="1378893" cy="255463"/>
          </a:xfrm>
          <a:prstGeom prst="roundRect">
            <a:avLst>
              <a:gd fmla="val 6149" name="adj"/>
            </a:avLst>
          </a:prstGeom>
          <a:noFill/>
          <a:ln cap="flat" cmpd="sng" w="9525">
            <a:solidFill>
              <a:srgbClr val="3851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1"/>
          <p:cNvSpPr/>
          <p:nvPr/>
        </p:nvSpPr>
        <p:spPr>
          <a:xfrm>
            <a:off x="606847" y="786408"/>
            <a:ext cx="1669554" cy="16750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8512F"/>
              </a:buClr>
              <a:buSzPts val="800"/>
              <a:buFont typeface="Source Sans 3"/>
              <a:buNone/>
            </a:pPr>
            <a:r>
              <a:rPr b="0" i="0" lang="en-US" sz="800" u="none" cap="none" strike="noStrike">
                <a:solidFill>
                  <a:srgbClr val="38512F"/>
                </a:solidFill>
                <a:latin typeface="Source Sans 3"/>
                <a:ea typeface="Source Sans 3"/>
                <a:cs typeface="Source Sans 3"/>
                <a:sym typeface="Source Sans 3"/>
              </a:rPr>
              <a:t>AI GUIDANCE &amp; INCLUSIVITY</a:t>
            </a:r>
            <a:endParaRPr b="0" i="0" sz="800" u="none" cap="none" strike="noStrike"/>
          </a:p>
        </p:txBody>
      </p:sp>
      <p:sp>
        <p:nvSpPr>
          <p:cNvPr id="84" name="Google Shape;84;p11"/>
          <p:cNvSpPr/>
          <p:nvPr/>
        </p:nvSpPr>
        <p:spPr>
          <a:xfrm>
            <a:off x="523577" y="1050206"/>
            <a:ext cx="8096845" cy="76988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8512F"/>
              </a:buClr>
              <a:buSzPts val="2400"/>
              <a:buFont typeface="Lora"/>
              <a:buNone/>
            </a:pPr>
            <a:r>
              <a:rPr b="0" i="0" lang="en-US" sz="2400" u="none" cap="none" strike="noStrike">
                <a:solidFill>
                  <a:srgbClr val="38512F"/>
                </a:solidFill>
                <a:latin typeface="Lora"/>
                <a:ea typeface="Lora"/>
                <a:cs typeface="Lora"/>
                <a:sym typeface="Lora"/>
              </a:rPr>
              <a:t>Clarity, Preparation, and Access — Built Into Every Interaction</a:t>
            </a:r>
            <a:endParaRPr b="0" i="0" sz="2400" u="none" cap="none" strike="noStrike"/>
          </a:p>
        </p:txBody>
      </p:sp>
      <p:sp>
        <p:nvSpPr>
          <p:cNvPr id="85" name="Google Shape;85;p11"/>
          <p:cNvSpPr/>
          <p:nvPr/>
        </p:nvSpPr>
        <p:spPr>
          <a:xfrm>
            <a:off x="429295" y="2016398"/>
            <a:ext cx="4077295" cy="2384599"/>
          </a:xfrm>
          <a:prstGeom prst="roundRect">
            <a:avLst>
              <a:gd fmla="val 823" name="adj"/>
            </a:avLst>
          </a:prstGeom>
          <a:solidFill>
            <a:srgbClr val="3851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1"/>
          <p:cNvSpPr/>
          <p:nvPr/>
        </p:nvSpPr>
        <p:spPr>
          <a:xfrm>
            <a:off x="560189" y="2147292"/>
            <a:ext cx="2023467"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200"/>
              <a:buFont typeface="Lora"/>
              <a:buNone/>
            </a:pPr>
            <a:r>
              <a:rPr b="0" i="0" lang="en-US" sz="1200" u="none" cap="none" strike="noStrike">
                <a:solidFill>
                  <a:srgbClr val="FFFFFF"/>
                </a:solidFill>
                <a:latin typeface="Lora"/>
                <a:ea typeface="Lora"/>
                <a:cs typeface="Lora"/>
                <a:sym typeface="Lora"/>
              </a:rPr>
              <a:t>AI-Powered Guidance</a:t>
            </a:r>
            <a:endParaRPr b="0" i="0" sz="1200" u="none" cap="none" strike="noStrike"/>
          </a:p>
        </p:txBody>
      </p:sp>
      <p:sp>
        <p:nvSpPr>
          <p:cNvPr id="87" name="Google Shape;87;p11"/>
          <p:cNvSpPr/>
          <p:nvPr/>
        </p:nvSpPr>
        <p:spPr>
          <a:xfrm>
            <a:off x="560189" y="2470696"/>
            <a:ext cx="3815507" cy="104700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FFFFFF"/>
              </a:buClr>
              <a:buSzPts val="1000"/>
              <a:buFont typeface="Source Sans 3"/>
              <a:buNone/>
            </a:pPr>
            <a:r>
              <a:rPr b="0" i="0" lang="en-US" sz="1000" u="none" cap="none" strike="noStrike">
                <a:solidFill>
                  <a:srgbClr val="FFFFFF"/>
                </a:solidFill>
                <a:latin typeface="Source Sans 3"/>
                <a:ea typeface="Source Sans 3"/>
                <a:cs typeface="Source Sans 3"/>
                <a:sym typeface="Source Sans 3"/>
              </a:rPr>
              <a:t>The built-in AI assistant answers questions about documents, eligibility, and application steps in plain, conversational language. It generates a customized document checklist tailored to each user's matched schemes, helping them avoid common errors and delays before they even begin the application process.</a:t>
            </a:r>
            <a:endParaRPr b="0" i="0" sz="1000" u="none" cap="none" strike="noStrike"/>
          </a:p>
        </p:txBody>
      </p:sp>
      <p:sp>
        <p:nvSpPr>
          <p:cNvPr id="88" name="Google Shape;88;p11"/>
          <p:cNvSpPr/>
          <p:nvPr/>
        </p:nvSpPr>
        <p:spPr>
          <a:xfrm>
            <a:off x="560189" y="3635499"/>
            <a:ext cx="3815507" cy="719733"/>
          </a:xfrm>
          <a:prstGeom prst="rect">
            <a:avLst/>
          </a:prstGeom>
          <a:noFill/>
          <a:ln>
            <a:noFill/>
          </a:ln>
        </p:spPr>
        <p:txBody>
          <a:bodyPr anchorCtr="0" anchor="t" bIns="0" lIns="0" spcFirstLastPara="1" rIns="0" wrap="square" tIns="0">
            <a:noAutofit/>
          </a:bodyPr>
          <a:lstStyle/>
          <a:p>
            <a:pPr indent="-342900" lvl="0" marL="342900" marR="0" rtl="0" algn="l">
              <a:lnSpc>
                <a:spcPct val="133000"/>
              </a:lnSpc>
              <a:spcBef>
                <a:spcPts val="0"/>
              </a:spcBef>
              <a:spcAft>
                <a:spcPts val="0"/>
              </a:spcAft>
              <a:buClr>
                <a:srgbClr val="FFFFFF"/>
              </a:buClr>
              <a:buSzPts val="1000"/>
              <a:buFont typeface="Source Sans 3"/>
              <a:buChar char="•"/>
            </a:pPr>
            <a:r>
              <a:rPr b="0" i="0" lang="en-US" sz="1000" u="none" cap="none" strike="noStrike">
                <a:solidFill>
                  <a:srgbClr val="FFFFFF"/>
                </a:solidFill>
                <a:latin typeface="Source Sans 3"/>
                <a:ea typeface="Source Sans 3"/>
                <a:cs typeface="Source Sans 3"/>
                <a:sym typeface="Source Sans 3"/>
              </a:rPr>
              <a:t>Instant answers in simple language</a:t>
            </a:r>
            <a:endParaRPr b="0" i="0" sz="1000" u="none" cap="none" strike="noStrike"/>
          </a:p>
          <a:p>
            <a:pPr indent="-342900" lvl="0" marL="342900" marR="0" rtl="0" algn="l">
              <a:lnSpc>
                <a:spcPct val="133000"/>
              </a:lnSpc>
              <a:spcBef>
                <a:spcPts val="0"/>
              </a:spcBef>
              <a:spcAft>
                <a:spcPts val="0"/>
              </a:spcAft>
              <a:buClr>
                <a:srgbClr val="FFFFFF"/>
              </a:buClr>
              <a:buSzPts val="1000"/>
              <a:buFont typeface="Source Sans 3"/>
              <a:buChar char="•"/>
            </a:pPr>
            <a:r>
              <a:rPr b="0" i="0" lang="en-US" sz="1000" u="none" cap="none" strike="noStrike">
                <a:solidFill>
                  <a:srgbClr val="FFFFFF"/>
                </a:solidFill>
                <a:latin typeface="Source Sans 3"/>
                <a:ea typeface="Source Sans 3"/>
                <a:cs typeface="Source Sans 3"/>
                <a:sym typeface="Source Sans 3"/>
              </a:rPr>
              <a:t>Personalized document checklists</a:t>
            </a:r>
            <a:endParaRPr b="0" i="0" sz="1000" u="none" cap="none" strike="noStrike"/>
          </a:p>
          <a:p>
            <a:pPr indent="-342900" lvl="0" marL="342900" marR="0" rtl="0" algn="l">
              <a:lnSpc>
                <a:spcPct val="133000"/>
              </a:lnSpc>
              <a:spcBef>
                <a:spcPts val="0"/>
              </a:spcBef>
              <a:spcAft>
                <a:spcPts val="0"/>
              </a:spcAft>
              <a:buClr>
                <a:srgbClr val="FFFFFF"/>
              </a:buClr>
              <a:buSzPts val="1000"/>
              <a:buFont typeface="Source Sans 3"/>
              <a:buChar char="•"/>
            </a:pPr>
            <a:r>
              <a:rPr b="0" i="0" lang="en-US" sz="1000" u="none" cap="none" strike="noStrike">
                <a:solidFill>
                  <a:srgbClr val="FFFFFF"/>
                </a:solidFill>
                <a:latin typeface="Source Sans 3"/>
                <a:ea typeface="Source Sans 3"/>
                <a:cs typeface="Source Sans 3"/>
                <a:sym typeface="Source Sans 3"/>
              </a:rPr>
              <a:t>Step-by-step application navigation</a:t>
            </a:r>
            <a:endParaRPr b="0" i="0" sz="1000" u="none" cap="none" strike="noStrike"/>
          </a:p>
        </p:txBody>
      </p:sp>
      <p:sp>
        <p:nvSpPr>
          <p:cNvPr id="89" name="Google Shape;89;p11"/>
          <p:cNvSpPr/>
          <p:nvPr/>
        </p:nvSpPr>
        <p:spPr>
          <a:xfrm>
            <a:off x="4736455" y="2147292"/>
            <a:ext cx="2511549" cy="19250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8512F"/>
              </a:buClr>
              <a:buSzPts val="1200"/>
              <a:buFont typeface="Lora"/>
              <a:buNone/>
            </a:pPr>
            <a:r>
              <a:rPr b="0" i="0" lang="en-US" sz="1200" u="none" cap="none" strike="noStrike">
                <a:solidFill>
                  <a:srgbClr val="38512F"/>
                </a:solidFill>
                <a:latin typeface="Lora"/>
                <a:ea typeface="Lora"/>
                <a:cs typeface="Lora"/>
                <a:sym typeface="Lora"/>
              </a:rPr>
              <a:t>Trust &amp; Inclusivity by Design</a:t>
            </a:r>
            <a:endParaRPr b="0" i="0" sz="1200" u="none" cap="none" strike="noStrike"/>
          </a:p>
        </p:txBody>
      </p:sp>
      <p:sp>
        <p:nvSpPr>
          <p:cNvPr id="90" name="Google Shape;90;p11"/>
          <p:cNvSpPr/>
          <p:nvPr/>
        </p:nvSpPr>
        <p:spPr>
          <a:xfrm>
            <a:off x="4736455" y="2470696"/>
            <a:ext cx="3888730" cy="104700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3A3630"/>
              </a:buClr>
              <a:buSzPts val="1000"/>
              <a:buFont typeface="Source Sans 3"/>
              <a:buNone/>
            </a:pPr>
            <a:r>
              <a:rPr b="0" i="0" lang="en-US" sz="1000" u="none" cap="none" strike="noStrike">
                <a:solidFill>
                  <a:srgbClr val="3A3630"/>
                </a:solidFill>
                <a:latin typeface="Source Sans 3"/>
                <a:ea typeface="Source Sans 3"/>
                <a:cs typeface="Source Sans 3"/>
                <a:sym typeface="Source Sans 3"/>
              </a:rPr>
              <a:t>Every scheme result links directly to verified official government portals such as </a:t>
            </a:r>
            <a:r>
              <a:rPr b="0" i="1" lang="en-US" sz="1000" u="none" cap="none" strike="noStrike">
                <a:solidFill>
                  <a:srgbClr val="3A3630"/>
                </a:solidFill>
                <a:latin typeface="Source Sans 3"/>
                <a:ea typeface="Source Sans 3"/>
                <a:cs typeface="Source Sans 3"/>
                <a:sym typeface="Source Sans 3"/>
              </a:rPr>
              <a:t>myScheme</a:t>
            </a:r>
            <a:r>
              <a:rPr b="0" i="0" lang="en-US" sz="1000" u="none" cap="none" strike="noStrike">
                <a:solidFill>
                  <a:srgbClr val="3A3630"/>
                </a:solidFill>
                <a:latin typeface="Source Sans 3"/>
                <a:ea typeface="Source Sans 3"/>
                <a:cs typeface="Source Sans 3"/>
                <a:sym typeface="Source Sans 3"/>
              </a:rPr>
              <a:t> and </a:t>
            </a:r>
            <a:r>
              <a:rPr b="0" i="1" lang="en-US" sz="1000" u="none" cap="none" strike="noStrike">
                <a:solidFill>
                  <a:srgbClr val="3A3630"/>
                </a:solidFill>
                <a:latin typeface="Source Sans 3"/>
                <a:ea typeface="Source Sans 3"/>
                <a:cs typeface="Source Sans 3"/>
                <a:sym typeface="Source Sans 3"/>
              </a:rPr>
              <a:t>PM-KISAN</a:t>
            </a:r>
            <a:r>
              <a:rPr b="0" i="0" lang="en-US" sz="1000" u="none" cap="none" strike="noStrike">
                <a:solidFill>
                  <a:srgbClr val="3A3630"/>
                </a:solidFill>
                <a:latin typeface="Source Sans 3"/>
                <a:ea typeface="Source Sans 3"/>
                <a:cs typeface="Source Sans 3"/>
                <a:sym typeface="Source Sans 3"/>
              </a:rPr>
              <a:t> — eliminating reliance on unverified intermediaries. The platform is fully accessible in 15+ Indian languages and features an inclusive UI with adjustable text sizes and high-contrast modes, ensuring no community is left behind.</a:t>
            </a:r>
            <a:endParaRPr b="0" i="0" sz="1000" u="none" cap="none" strike="noStrike"/>
          </a:p>
        </p:txBody>
      </p:sp>
      <p:sp>
        <p:nvSpPr>
          <p:cNvPr id="91" name="Google Shape;91;p11"/>
          <p:cNvSpPr/>
          <p:nvPr/>
        </p:nvSpPr>
        <p:spPr>
          <a:xfrm>
            <a:off x="4736455" y="3635499"/>
            <a:ext cx="3888730" cy="719733"/>
          </a:xfrm>
          <a:prstGeom prst="rect">
            <a:avLst/>
          </a:prstGeom>
          <a:noFill/>
          <a:ln>
            <a:noFill/>
          </a:ln>
        </p:spPr>
        <p:txBody>
          <a:bodyPr anchorCtr="0" anchor="t" bIns="0" lIns="0" spcFirstLastPara="1" rIns="0" wrap="square" tIns="0">
            <a:noAutofit/>
          </a:bodyPr>
          <a:lstStyle/>
          <a:p>
            <a:pPr indent="-342900" lvl="0" marL="342900" marR="0" rtl="0" algn="l">
              <a:lnSpc>
                <a:spcPct val="133000"/>
              </a:lnSpc>
              <a:spcBef>
                <a:spcPts val="0"/>
              </a:spcBef>
              <a:spcAft>
                <a:spcPts val="0"/>
              </a:spcAft>
              <a:buClr>
                <a:srgbClr val="3A3630"/>
              </a:buClr>
              <a:buSzPts val="1000"/>
              <a:buFont typeface="Source Sans 3"/>
              <a:buChar char="•"/>
            </a:pPr>
            <a:r>
              <a:rPr b="0" i="0" lang="en-US" sz="1000" u="none" cap="none" strike="noStrike">
                <a:solidFill>
                  <a:srgbClr val="3A3630"/>
                </a:solidFill>
                <a:latin typeface="Source Sans 3"/>
                <a:ea typeface="Source Sans 3"/>
                <a:cs typeface="Source Sans 3"/>
                <a:sym typeface="Source Sans 3"/>
              </a:rPr>
              <a:t>Verified links to official portals</a:t>
            </a:r>
            <a:endParaRPr b="0" i="0" sz="1000" u="none" cap="none" strike="noStrike"/>
          </a:p>
          <a:p>
            <a:pPr indent="-342900" lvl="0" marL="342900" marR="0" rtl="0" algn="l">
              <a:lnSpc>
                <a:spcPct val="133000"/>
              </a:lnSpc>
              <a:spcBef>
                <a:spcPts val="0"/>
              </a:spcBef>
              <a:spcAft>
                <a:spcPts val="0"/>
              </a:spcAft>
              <a:buClr>
                <a:srgbClr val="3A3630"/>
              </a:buClr>
              <a:buSzPts val="1000"/>
              <a:buFont typeface="Source Sans 3"/>
              <a:buChar char="•"/>
            </a:pPr>
            <a:r>
              <a:rPr b="0" i="0" lang="en-US" sz="1000" u="none" cap="none" strike="noStrike">
                <a:solidFill>
                  <a:srgbClr val="3A3630"/>
                </a:solidFill>
                <a:latin typeface="Source Sans 3"/>
                <a:ea typeface="Source Sans 3"/>
                <a:cs typeface="Source Sans 3"/>
                <a:sym typeface="Source Sans 3"/>
              </a:rPr>
              <a:t>15+ Indian language support</a:t>
            </a:r>
            <a:endParaRPr b="0" i="0" sz="1000" u="none" cap="none" strike="noStrike"/>
          </a:p>
          <a:p>
            <a:pPr indent="-342900" lvl="0" marL="342900" marR="0" rtl="0" algn="l">
              <a:lnSpc>
                <a:spcPct val="133000"/>
              </a:lnSpc>
              <a:spcBef>
                <a:spcPts val="0"/>
              </a:spcBef>
              <a:spcAft>
                <a:spcPts val="0"/>
              </a:spcAft>
              <a:buClr>
                <a:srgbClr val="3A3630"/>
              </a:buClr>
              <a:buSzPts val="1000"/>
              <a:buFont typeface="Source Sans 3"/>
              <a:buChar char="•"/>
            </a:pPr>
            <a:r>
              <a:rPr b="0" i="0" lang="en-US" sz="1000" u="none" cap="none" strike="noStrike">
                <a:solidFill>
                  <a:srgbClr val="3A3630"/>
                </a:solidFill>
                <a:latin typeface="Source Sans 3"/>
                <a:ea typeface="Source Sans 3"/>
                <a:cs typeface="Source Sans 3"/>
                <a:sym typeface="Source Sans 3"/>
              </a:rPr>
              <a:t>Accessibility features for all abilities</a:t>
            </a:r>
            <a:endParaRPr b="0" i="0" sz="10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preencoded.png" id="97" name="Google Shape;97;p12"/>
          <p:cNvPicPr preferRelativeResize="0"/>
          <p:nvPr/>
        </p:nvPicPr>
        <p:blipFill rotWithShape="1">
          <a:blip r:embed="rId3">
            <a:alphaModFix/>
          </a:blip>
          <a:srcRect b="0" l="0" r="0" t="0"/>
          <a:stretch/>
        </p:blipFill>
        <p:spPr>
          <a:xfrm>
            <a:off x="0" y="0"/>
            <a:ext cx="3429000" cy="5143500"/>
          </a:xfrm>
          <a:prstGeom prst="rect">
            <a:avLst/>
          </a:prstGeom>
          <a:noFill/>
          <a:ln>
            <a:noFill/>
          </a:ln>
        </p:spPr>
      </p:pic>
      <p:sp>
        <p:nvSpPr>
          <p:cNvPr id="98" name="Google Shape;98;p12"/>
          <p:cNvSpPr/>
          <p:nvPr/>
        </p:nvSpPr>
        <p:spPr>
          <a:xfrm>
            <a:off x="3878982" y="310530"/>
            <a:ext cx="766688" cy="201216"/>
          </a:xfrm>
          <a:prstGeom prst="roundRect">
            <a:avLst>
              <a:gd fmla="val 6709" name="adj"/>
            </a:avLst>
          </a:prstGeom>
          <a:solidFill>
            <a:srgbClr val="E2EC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2"/>
          <p:cNvSpPr/>
          <p:nvPr/>
        </p:nvSpPr>
        <p:spPr>
          <a:xfrm>
            <a:off x="3946475" y="344239"/>
            <a:ext cx="1088901" cy="133796"/>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3A3630"/>
              </a:buClr>
              <a:buSzPts val="700"/>
              <a:buFont typeface="Source Sans 3"/>
              <a:buNone/>
            </a:pPr>
            <a:r>
              <a:rPr b="0" i="0" lang="en-US" sz="700" u="none" cap="none" strike="noStrike">
                <a:solidFill>
                  <a:srgbClr val="3A3630"/>
                </a:solidFill>
                <a:latin typeface="Source Sans 3"/>
                <a:ea typeface="Source Sans 3"/>
                <a:cs typeface="Source Sans 3"/>
                <a:sym typeface="Source Sans 3"/>
              </a:rPr>
              <a:t>IMPACT &amp; VISION</a:t>
            </a:r>
            <a:endParaRPr b="0" i="0" sz="700" u="none" cap="none" strike="noStrike"/>
          </a:p>
        </p:txBody>
      </p:sp>
      <p:sp>
        <p:nvSpPr>
          <p:cNvPr id="100" name="Google Shape;100;p12"/>
          <p:cNvSpPr/>
          <p:nvPr/>
        </p:nvSpPr>
        <p:spPr>
          <a:xfrm>
            <a:off x="3878982" y="550366"/>
            <a:ext cx="4815036" cy="66169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38512F"/>
              </a:buClr>
              <a:buSzPts val="2050"/>
              <a:buFont typeface="Lora"/>
              <a:buNone/>
            </a:pPr>
            <a:r>
              <a:rPr b="0" i="0" lang="en-US" sz="2050" u="none" cap="none" strike="noStrike">
                <a:solidFill>
                  <a:srgbClr val="38512F"/>
                </a:solidFill>
                <a:latin typeface="Lora"/>
                <a:ea typeface="Lora"/>
                <a:cs typeface="Lora"/>
                <a:sym typeface="Lora"/>
              </a:rPr>
              <a:t>From 3 Days of Searching to 3 Minutes of Clarity</a:t>
            </a:r>
            <a:endParaRPr b="0" i="0" sz="2050" u="none" cap="none" strike="noStrike"/>
          </a:p>
        </p:txBody>
      </p:sp>
      <p:sp>
        <p:nvSpPr>
          <p:cNvPr id="101" name="Google Shape;101;p12"/>
          <p:cNvSpPr/>
          <p:nvPr/>
        </p:nvSpPr>
        <p:spPr>
          <a:xfrm>
            <a:off x="3878982" y="1413197"/>
            <a:ext cx="2347094" cy="37125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A3630"/>
              </a:buClr>
              <a:buSzPts val="2900"/>
              <a:buFont typeface="Lora"/>
              <a:buNone/>
            </a:pPr>
            <a:r>
              <a:rPr b="0" i="0" lang="en-US" sz="2900" u="none" cap="none" strike="noStrike">
                <a:solidFill>
                  <a:srgbClr val="3A3630"/>
                </a:solidFill>
                <a:latin typeface="Lora"/>
                <a:ea typeface="Lora"/>
                <a:cs typeface="Lora"/>
                <a:sym typeface="Lora"/>
              </a:rPr>
              <a:t>3 min</a:t>
            </a:r>
            <a:endParaRPr b="0" i="0" sz="2900" u="none" cap="none" strike="noStrike"/>
          </a:p>
        </p:txBody>
      </p:sp>
      <p:sp>
        <p:nvSpPr>
          <p:cNvPr id="102" name="Google Shape;102;p12"/>
          <p:cNvSpPr/>
          <p:nvPr/>
        </p:nvSpPr>
        <p:spPr>
          <a:xfrm>
            <a:off x="4390727" y="1913111"/>
            <a:ext cx="1323529" cy="165422"/>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A3630"/>
              </a:buClr>
              <a:buSzPts val="1000"/>
              <a:buFont typeface="Lora"/>
              <a:buNone/>
            </a:pPr>
            <a:r>
              <a:rPr b="0" i="0" lang="en-US" sz="1000" u="none" cap="none" strike="noStrike">
                <a:solidFill>
                  <a:srgbClr val="3A3630"/>
                </a:solidFill>
                <a:latin typeface="Lora"/>
                <a:ea typeface="Lora"/>
                <a:cs typeface="Lora"/>
                <a:sym typeface="Lora"/>
              </a:rPr>
              <a:t>Time to Results</a:t>
            </a:r>
            <a:endParaRPr b="0" i="0" sz="1000" u="none" cap="none" strike="noStrike"/>
          </a:p>
        </p:txBody>
      </p:sp>
      <p:sp>
        <p:nvSpPr>
          <p:cNvPr id="103" name="Google Shape;103;p12"/>
          <p:cNvSpPr/>
          <p:nvPr/>
        </p:nvSpPr>
        <p:spPr>
          <a:xfrm>
            <a:off x="3878982" y="2136502"/>
            <a:ext cx="2347094" cy="502072"/>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3A3630"/>
              </a:buClr>
              <a:buSzPts val="850"/>
              <a:buFont typeface="Source Sans 3"/>
              <a:buNone/>
            </a:pPr>
            <a:r>
              <a:rPr b="0" i="0" lang="en-US" sz="850" u="none" cap="none" strike="noStrike">
                <a:solidFill>
                  <a:srgbClr val="3A3630"/>
                </a:solidFill>
                <a:latin typeface="Source Sans 3"/>
                <a:ea typeface="Source Sans 3"/>
                <a:cs typeface="Source Sans 3"/>
                <a:sym typeface="Source Sans 3"/>
              </a:rPr>
              <a:t>What once required days of searching across fragmented portals is now accomplished in minutes through AI-guided interaction.</a:t>
            </a:r>
            <a:endParaRPr b="0" i="0" sz="850" u="none" cap="none" strike="noStrike"/>
          </a:p>
        </p:txBody>
      </p:sp>
      <p:sp>
        <p:nvSpPr>
          <p:cNvPr id="104" name="Google Shape;104;p12"/>
          <p:cNvSpPr/>
          <p:nvPr/>
        </p:nvSpPr>
        <p:spPr>
          <a:xfrm>
            <a:off x="6346924" y="1413197"/>
            <a:ext cx="2347094" cy="37125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A3630"/>
              </a:buClr>
              <a:buSzPts val="2900"/>
              <a:buFont typeface="Lora"/>
              <a:buNone/>
            </a:pPr>
            <a:r>
              <a:rPr b="0" i="0" lang="en-US" sz="2900" u="none" cap="none" strike="noStrike">
                <a:solidFill>
                  <a:srgbClr val="3A3630"/>
                </a:solidFill>
                <a:latin typeface="Lora"/>
                <a:ea typeface="Lora"/>
                <a:cs typeface="Lora"/>
                <a:sym typeface="Lora"/>
              </a:rPr>
              <a:t>1,200+</a:t>
            </a:r>
            <a:endParaRPr b="0" i="0" sz="2900" u="none" cap="none" strike="noStrike"/>
          </a:p>
        </p:txBody>
      </p:sp>
      <p:sp>
        <p:nvSpPr>
          <p:cNvPr id="105" name="Google Shape;105;p12"/>
          <p:cNvSpPr/>
          <p:nvPr/>
        </p:nvSpPr>
        <p:spPr>
          <a:xfrm>
            <a:off x="6858670" y="1913111"/>
            <a:ext cx="1323529" cy="165422"/>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A3630"/>
              </a:buClr>
              <a:buSzPts val="1000"/>
              <a:buFont typeface="Lora"/>
              <a:buNone/>
            </a:pPr>
            <a:r>
              <a:rPr b="0" i="0" lang="en-US" sz="1000" u="none" cap="none" strike="noStrike">
                <a:solidFill>
                  <a:srgbClr val="3A3630"/>
                </a:solidFill>
                <a:latin typeface="Lora"/>
                <a:ea typeface="Lora"/>
                <a:cs typeface="Lora"/>
                <a:sym typeface="Lora"/>
              </a:rPr>
              <a:t>Schemes Indexed</a:t>
            </a:r>
            <a:endParaRPr b="0" i="0" sz="1000" u="none" cap="none" strike="noStrike"/>
          </a:p>
        </p:txBody>
      </p:sp>
      <p:sp>
        <p:nvSpPr>
          <p:cNvPr id="106" name="Google Shape;106;p12"/>
          <p:cNvSpPr/>
          <p:nvPr/>
        </p:nvSpPr>
        <p:spPr>
          <a:xfrm>
            <a:off x="6346924" y="2136502"/>
            <a:ext cx="2347094" cy="502072"/>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3A3630"/>
              </a:buClr>
              <a:buSzPts val="850"/>
              <a:buFont typeface="Source Sans 3"/>
              <a:buNone/>
            </a:pPr>
            <a:r>
              <a:rPr b="0" i="0" lang="en-US" sz="850" u="none" cap="none" strike="noStrike">
                <a:solidFill>
                  <a:srgbClr val="3A3630"/>
                </a:solidFill>
                <a:latin typeface="Source Sans 3"/>
                <a:ea typeface="Source Sans 3"/>
                <a:cs typeface="Source Sans 3"/>
                <a:sym typeface="Source Sans 3"/>
              </a:rPr>
              <a:t>A unified database spanning central, state, and local government welfare programs — all searchable from one entry point.</a:t>
            </a:r>
            <a:endParaRPr b="0" i="0" sz="850" u="none" cap="none" strike="noStrike"/>
          </a:p>
        </p:txBody>
      </p:sp>
      <p:sp>
        <p:nvSpPr>
          <p:cNvPr id="107" name="Google Shape;107;p12"/>
          <p:cNvSpPr/>
          <p:nvPr/>
        </p:nvSpPr>
        <p:spPr>
          <a:xfrm>
            <a:off x="5112916" y="2888084"/>
            <a:ext cx="2347094" cy="371252"/>
          </a:xfrm>
          <a:prstGeom prst="rect">
            <a:avLst/>
          </a:prstGeom>
          <a:noFill/>
          <a:ln>
            <a:noFill/>
          </a:ln>
        </p:spPr>
        <p:txBody>
          <a:bodyPr anchorCtr="0" anchor="t" bIns="0" lIns="0" spcFirstLastPara="1" rIns="0" wrap="square" tIns="0">
            <a:noAutofit/>
          </a:bodyPr>
          <a:lstStyle/>
          <a:p>
            <a:pPr indent="0" lvl="0" marL="0" marR="0" rtl="0" algn="ctr">
              <a:lnSpc>
                <a:spcPct val="83000"/>
              </a:lnSpc>
              <a:spcBef>
                <a:spcPts val="0"/>
              </a:spcBef>
              <a:spcAft>
                <a:spcPts val="0"/>
              </a:spcAft>
              <a:buClr>
                <a:srgbClr val="3A3630"/>
              </a:buClr>
              <a:buSzPts val="2900"/>
              <a:buFont typeface="Lora"/>
              <a:buNone/>
            </a:pPr>
            <a:r>
              <a:rPr b="0" i="0" lang="en-US" sz="2900" u="none" cap="none" strike="noStrike">
                <a:solidFill>
                  <a:srgbClr val="3A3630"/>
                </a:solidFill>
                <a:latin typeface="Lora"/>
                <a:ea typeface="Lora"/>
                <a:cs typeface="Lora"/>
                <a:sym typeface="Lora"/>
              </a:rPr>
              <a:t>10+</a:t>
            </a:r>
            <a:endParaRPr b="0" i="0" sz="2900" u="none" cap="none" strike="noStrike"/>
          </a:p>
        </p:txBody>
      </p:sp>
      <p:sp>
        <p:nvSpPr>
          <p:cNvPr id="108" name="Google Shape;108;p12"/>
          <p:cNvSpPr/>
          <p:nvPr/>
        </p:nvSpPr>
        <p:spPr>
          <a:xfrm>
            <a:off x="5618038" y="3387998"/>
            <a:ext cx="1336849" cy="165422"/>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3A3630"/>
              </a:buClr>
              <a:buSzPts val="1000"/>
              <a:buFont typeface="Lora"/>
              <a:buNone/>
            </a:pPr>
            <a:r>
              <a:rPr b="0" i="0" lang="en-US" sz="1000" u="none" cap="none" strike="noStrike">
                <a:solidFill>
                  <a:srgbClr val="3A3630"/>
                </a:solidFill>
                <a:latin typeface="Lora"/>
                <a:ea typeface="Lora"/>
                <a:cs typeface="Lora"/>
                <a:sym typeface="Lora"/>
              </a:rPr>
              <a:t>Languages Supported</a:t>
            </a:r>
            <a:endParaRPr b="0" i="0" sz="1000" u="none" cap="none" strike="noStrike"/>
          </a:p>
        </p:txBody>
      </p:sp>
      <p:sp>
        <p:nvSpPr>
          <p:cNvPr id="109" name="Google Shape;109;p12"/>
          <p:cNvSpPr/>
          <p:nvPr/>
        </p:nvSpPr>
        <p:spPr>
          <a:xfrm>
            <a:off x="5112916" y="3611389"/>
            <a:ext cx="2347094" cy="502072"/>
          </a:xfrm>
          <a:prstGeom prst="rect">
            <a:avLst/>
          </a:prstGeom>
          <a:noFill/>
          <a:ln>
            <a:noFill/>
          </a:ln>
        </p:spPr>
        <p:txBody>
          <a:bodyPr anchorCtr="0" anchor="t" bIns="0" lIns="0" spcFirstLastPara="1" rIns="0" wrap="square" tIns="0">
            <a:noAutofit/>
          </a:bodyPr>
          <a:lstStyle/>
          <a:p>
            <a:pPr indent="0" lvl="0" marL="0" marR="0" rtl="0" algn="ctr">
              <a:lnSpc>
                <a:spcPct val="124000"/>
              </a:lnSpc>
              <a:spcBef>
                <a:spcPts val="0"/>
              </a:spcBef>
              <a:spcAft>
                <a:spcPts val="0"/>
              </a:spcAft>
              <a:buClr>
                <a:srgbClr val="3A3630"/>
              </a:buClr>
              <a:buSzPts val="850"/>
              <a:buFont typeface="Source Sans 3"/>
              <a:buNone/>
            </a:pPr>
            <a:r>
              <a:rPr b="0" i="0" lang="en-US" sz="850" u="none" cap="none" strike="noStrike">
                <a:solidFill>
                  <a:srgbClr val="3A3630"/>
                </a:solidFill>
                <a:latin typeface="Source Sans 3"/>
                <a:ea typeface="Source Sans 3"/>
                <a:cs typeface="Source Sans 3"/>
                <a:sym typeface="Source Sans 3"/>
              </a:rPr>
              <a:t>Full platform accessibility in 10+ Indian languages, ensuring rural, tribal, and non-English-speaking communities can participate equally.</a:t>
            </a:r>
            <a:endParaRPr b="0" i="0" sz="850" u="none" cap="none" strike="noStrike"/>
          </a:p>
        </p:txBody>
      </p:sp>
      <p:sp>
        <p:nvSpPr>
          <p:cNvPr id="110" name="Google Shape;110;p12"/>
          <p:cNvSpPr/>
          <p:nvPr/>
        </p:nvSpPr>
        <p:spPr>
          <a:xfrm>
            <a:off x="4047679" y="4222179"/>
            <a:ext cx="4646340" cy="502072"/>
          </a:xfrm>
          <a:prstGeom prst="rect">
            <a:avLst/>
          </a:prstGeom>
          <a:noFill/>
          <a:ln>
            <a:noFill/>
          </a:ln>
        </p:spPr>
        <p:txBody>
          <a:bodyPr anchorCtr="0" anchor="t" bIns="0" lIns="0" spcFirstLastPara="1" rIns="0" wrap="square" tIns="0">
            <a:noAutofit/>
          </a:bodyPr>
          <a:lstStyle/>
          <a:p>
            <a:pPr indent="0" lvl="0" marL="0" marR="0" rtl="0" algn="l">
              <a:lnSpc>
                <a:spcPct val="124000"/>
              </a:lnSpc>
              <a:spcBef>
                <a:spcPts val="0"/>
              </a:spcBef>
              <a:spcAft>
                <a:spcPts val="0"/>
              </a:spcAft>
              <a:buClr>
                <a:srgbClr val="3A3630"/>
              </a:buClr>
              <a:buSzPts val="850"/>
              <a:buFont typeface="Source Sans 3"/>
              <a:buNone/>
            </a:pPr>
            <a:r>
              <a:rPr b="0" i="0" lang="en-US" sz="850" u="none" cap="none" strike="noStrike">
                <a:solidFill>
                  <a:srgbClr val="3A3630"/>
                </a:solidFill>
                <a:latin typeface="Source Sans 3"/>
                <a:ea typeface="Source Sans 3"/>
                <a:cs typeface="Source Sans 3"/>
                <a:sym typeface="Source Sans 3"/>
              </a:rPr>
              <a:t>Sahaaya Setu is more than a tool — it is a bridge. A bridge between a citizen and their rights, between complexity and clarity, and between exclusion and a truly inclusive India where every person can claim the support they deserve.</a:t>
            </a:r>
            <a:endParaRPr b="0" i="0" sz="8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